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Lora" pitchFamily="2" charset="0"/>
      <p:regular r:id="rId13"/>
    </p:embeddedFont>
    <p:embeddedFont>
      <p:font typeface="Source Sans 3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240" autoAdjust="0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94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0547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3.svg"/><Relationship Id="rId11" Type="http://schemas.openxmlformats.org/officeDocument/2006/relationships/image" Target="../media/image3.pn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2146935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SadakChainAI: Solution Architecture &amp; Roadmap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24124" y="3650694"/>
            <a:ext cx="7468553" cy="1689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From Functional MVP to AI-Verified Pilot Deployment (Borivali West)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6324124" y="5699522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Creating the "Ground Truth Protocol" for Public Infrastructure.</a:t>
            </a:r>
            <a:endParaRPr lang="en-US" sz="18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C576A5-80F0-4258-D311-6774D66EA7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32697" y="7746194"/>
            <a:ext cx="2100883" cy="38302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155621"/>
            <a:ext cx="9839682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Current MVP Status (The Foundation)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1955363"/>
            <a:ext cx="7296269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i="1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State: Fully Functional PWA (React + Supabase)</a:t>
            </a:r>
            <a:endParaRPr lang="en-US" sz="2650" dirty="0"/>
          </a:p>
        </p:txBody>
      </p:sp>
      <p:sp>
        <p:nvSpPr>
          <p:cNvPr id="4" name="Shape 2"/>
          <p:cNvSpPr/>
          <p:nvPr/>
        </p:nvSpPr>
        <p:spPr>
          <a:xfrm>
            <a:off x="837724" y="2736652"/>
            <a:ext cx="4158734" cy="3032879"/>
          </a:xfrm>
          <a:prstGeom prst="roundRect">
            <a:avLst>
              <a:gd name="adj" fmla="val 1184"/>
            </a:avLst>
          </a:prstGeom>
          <a:solidFill>
            <a:srgbClr val="F3E7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77039" y="297596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Frontend Interface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77039" y="3471505"/>
            <a:ext cx="368010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Tech Stack:</a:t>
            </a: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React (TypeScript) + Vite + Tailwind CSS.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1077039" y="4381143"/>
            <a:ext cx="368010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Status:</a:t>
            </a: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Complete. Features responsive mobile UI, location capture, and media handling.</a:t>
            </a:r>
            <a:endParaRPr lang="en-US" sz="1850" dirty="0"/>
          </a:p>
        </p:txBody>
      </p:sp>
      <p:sp>
        <p:nvSpPr>
          <p:cNvPr id="8" name="Shape 6"/>
          <p:cNvSpPr/>
          <p:nvPr/>
        </p:nvSpPr>
        <p:spPr>
          <a:xfrm>
            <a:off x="5235773" y="2736652"/>
            <a:ext cx="4158734" cy="3032879"/>
          </a:xfrm>
          <a:prstGeom prst="roundRect">
            <a:avLst>
              <a:gd name="adj" fmla="val 1184"/>
            </a:avLst>
          </a:prstGeom>
          <a:solidFill>
            <a:srgbClr val="F3E7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75089" y="2975967"/>
            <a:ext cx="2969776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Backend &amp; Persistence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75089" y="3471505"/>
            <a:ext cx="368010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Tech Stack:</a:t>
            </a: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Supabase (PostgreSQL).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5475089" y="3998119"/>
            <a:ext cx="3680103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Status:</a:t>
            </a: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Complete. Handles User Auth (eKYC type), Role Management (Citizen/Auditor), and secure storage of Raw Reports (photos/videos).</a:t>
            </a:r>
            <a:endParaRPr lang="en-US" sz="1850" dirty="0"/>
          </a:p>
        </p:txBody>
      </p:sp>
      <p:sp>
        <p:nvSpPr>
          <p:cNvPr id="12" name="Shape 10"/>
          <p:cNvSpPr/>
          <p:nvPr/>
        </p:nvSpPr>
        <p:spPr>
          <a:xfrm>
            <a:off x="9633823" y="2736652"/>
            <a:ext cx="4158853" cy="3032879"/>
          </a:xfrm>
          <a:prstGeom prst="roundRect">
            <a:avLst>
              <a:gd name="adj" fmla="val 1184"/>
            </a:avLst>
          </a:prstGeom>
          <a:solidFill>
            <a:srgbClr val="F3E7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9873139" y="297596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Logic Layer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873139" y="3471505"/>
            <a:ext cx="368022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Tech Stack:</a:t>
            </a: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Edge Functions.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9873139" y="3998119"/>
            <a:ext cx="3680222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Status:</a:t>
            </a: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Functional. Manages report submission triggers and questionnaire logic.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837724" y="6038731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Objective:</a:t>
            </a: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This layer currently serves as the Data Ingestion Point for the upcoming AI/Blockchain integration.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837724" y="6690955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endParaRPr lang="en-US" sz="18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FB5A63F-3112-1175-CDFD-A813B93C66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2697" y="7746194"/>
            <a:ext cx="2100883" cy="38302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719614"/>
            <a:ext cx="7468553" cy="95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Pre-Requisite: Geospatial Node Mapping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837724" y="1758434"/>
            <a:ext cx="7468553" cy="718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i="1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Before reporting begins, the physical world is digitized into addressable assets.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837724" y="2985135"/>
            <a:ext cx="2158365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1. The Hierarchy: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37724" y="3487698"/>
            <a:ext cx="2158365" cy="976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Level 1:</a:t>
            </a:r>
            <a:r>
              <a:rPr lang="en-US" sz="16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Pincode (e.g., Borivali West - 400092).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37724" y="4535448"/>
            <a:ext cx="2158365" cy="1302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Level 2:</a:t>
            </a:r>
            <a:r>
              <a:rPr lang="en-US" sz="16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Nagar/Locality Cluster (e.g., IC Colony).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37724" y="5908715"/>
            <a:ext cx="2158365" cy="976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Level 3:</a:t>
            </a:r>
            <a:r>
              <a:rPr lang="en-US" sz="16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Road Segment/Chowk (The Atomic Unit).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499961" y="2985135"/>
            <a:ext cx="2159198" cy="59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2. The "Blockchain Node" Definition: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3499961" y="3786902"/>
            <a:ext cx="2159198" cy="1627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Every </a:t>
            </a:r>
            <a:r>
              <a:rPr lang="en-US" sz="160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 KM Road Segment</a:t>
            </a:r>
            <a:r>
              <a:rPr lang="en-US" sz="16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(or distinct Lane/Chowk) is assigned a </a:t>
            </a:r>
            <a:r>
              <a:rPr lang="en-US" sz="160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Unique Asset ID (UAID)</a:t>
            </a:r>
            <a:r>
              <a:rPr lang="en-US" sz="16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499961" y="5485686"/>
            <a:ext cx="2159198" cy="1953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Process:</a:t>
            </a:r>
            <a:r>
              <a:rPr lang="en-US" sz="16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We map the Pilot Ward using OpenStreetMap/GIS data, segmenting continuous roads into 1km "blocks."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163032" y="2985135"/>
            <a:ext cx="2158365" cy="59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3. The Anchor Point: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6163032" y="3786902"/>
            <a:ext cx="2158365" cy="1302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Citizens do not just "report a pothole"; they submit data </a:t>
            </a:r>
            <a:r>
              <a:rPr lang="en-US" sz="1600" i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</a:t>
            </a:r>
            <a:r>
              <a:rPr lang="en-US" sz="16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 specific </a:t>
            </a:r>
            <a:r>
              <a:rPr lang="en-US" sz="160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UAID</a:t>
            </a:r>
            <a:r>
              <a:rPr lang="en-US" sz="16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163032" y="5160169"/>
            <a:ext cx="2158365" cy="1953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UAID is the permanent "Container" on the blockchain that holds the history of that specific kilometer.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781764"/>
            <a:ext cx="12458343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Pilot Architecture Workflow (The Data Pipeline)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1581507"/>
            <a:ext cx="10284023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i="1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How data moves from Citizen to Blockchain. (Future Deployment)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837724" y="2362795"/>
            <a:ext cx="23931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Lora Light" pitchFamily="34" charset="0"/>
                <a:ea typeface="Lora Light" pitchFamily="34" charset="-122"/>
                <a:cs typeface="Lora Light" pitchFamily="34" charset="-120"/>
              </a:rPr>
              <a:t>01</a:t>
            </a:r>
            <a:endParaRPr lang="en-US" sz="1850" dirty="0"/>
          </a:p>
        </p:txBody>
      </p:sp>
      <p:sp>
        <p:nvSpPr>
          <p:cNvPr id="5" name="Shape 3"/>
          <p:cNvSpPr/>
          <p:nvPr/>
        </p:nvSpPr>
        <p:spPr>
          <a:xfrm>
            <a:off x="837724" y="2739152"/>
            <a:ext cx="4158734" cy="30480"/>
          </a:xfrm>
          <a:prstGeom prst="rect">
            <a:avLst/>
          </a:prstGeom>
          <a:solidFill>
            <a:srgbClr val="38512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37724" y="2919770"/>
            <a:ext cx="3180040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Ingestion (Current MVP)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37724" y="3415308"/>
            <a:ext cx="4158734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PWA captures photo + GPS. System auto-matches GPS to the nearest </a:t>
            </a:r>
            <a:r>
              <a:rPr lang="en-US" sz="18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UAID (Road Segment)</a:t>
            </a: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5235773" y="2362795"/>
            <a:ext cx="23931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Lora Light" pitchFamily="34" charset="0"/>
                <a:ea typeface="Lora Light" pitchFamily="34" charset="-122"/>
                <a:cs typeface="Lora Light" pitchFamily="34" charset="-120"/>
              </a:rPr>
              <a:t>02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5235773" y="2739152"/>
            <a:ext cx="4158734" cy="30480"/>
          </a:xfrm>
          <a:prstGeom prst="rect">
            <a:avLst/>
          </a:prstGeom>
          <a:solidFill>
            <a:srgbClr val="38512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235773" y="2919770"/>
            <a:ext cx="341697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Perception Layer (New AI)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235773" y="3415308"/>
            <a:ext cx="4158734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 is routed to Data Quality Filter (DQF) and Pothole Damage Classifier (PDC).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9633823" y="2362795"/>
            <a:ext cx="23931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Lora Light" pitchFamily="34" charset="0"/>
                <a:ea typeface="Lora Light" pitchFamily="34" charset="-122"/>
                <a:cs typeface="Lora Light" pitchFamily="34" charset="-120"/>
              </a:rPr>
              <a:t>03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9633823" y="2739152"/>
            <a:ext cx="4158853" cy="30480"/>
          </a:xfrm>
          <a:prstGeom prst="rect">
            <a:avLst/>
          </a:prstGeom>
          <a:solidFill>
            <a:srgbClr val="38512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633823" y="2919770"/>
            <a:ext cx="3684746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Decision Layer (Proprietary)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633823" y="3415308"/>
            <a:ext cx="41588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System synthesizes AI scores to calculate the </a:t>
            </a:r>
            <a:r>
              <a:rPr lang="en-US" sz="18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Road Trust Score (RTS)</a:t>
            </a: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for that UAID.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837724" y="4983123"/>
            <a:ext cx="23931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Lora Light" pitchFamily="34" charset="0"/>
                <a:ea typeface="Lora Light" pitchFamily="34" charset="-122"/>
                <a:cs typeface="Lora Light" pitchFamily="34" charset="-120"/>
              </a:rPr>
              <a:t>04</a:t>
            </a:r>
            <a:endParaRPr lang="en-US" sz="1850" dirty="0"/>
          </a:p>
        </p:txBody>
      </p:sp>
      <p:sp>
        <p:nvSpPr>
          <p:cNvPr id="17" name="Shape 15"/>
          <p:cNvSpPr/>
          <p:nvPr/>
        </p:nvSpPr>
        <p:spPr>
          <a:xfrm>
            <a:off x="837724" y="5359479"/>
            <a:ext cx="6357818" cy="30480"/>
          </a:xfrm>
          <a:prstGeom prst="rect">
            <a:avLst/>
          </a:prstGeom>
          <a:solidFill>
            <a:srgbClr val="38512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37724" y="5540097"/>
            <a:ext cx="3838099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Trust Layer (New Blockchain)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37724" y="6035635"/>
            <a:ext cx="635781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RTS + Metadata is hashed.</a:t>
            </a:r>
            <a:endParaRPr lang="en-US" sz="1850" dirty="0"/>
          </a:p>
        </p:txBody>
      </p:sp>
      <p:sp>
        <p:nvSpPr>
          <p:cNvPr id="20" name="Text 18"/>
          <p:cNvSpPr/>
          <p:nvPr/>
        </p:nvSpPr>
        <p:spPr>
          <a:xfrm>
            <a:off x="837724" y="6502360"/>
            <a:ext cx="6357818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hash is anchored to the </a:t>
            </a:r>
            <a:r>
              <a:rPr lang="en-US" sz="18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Permissioned Ledger</a:t>
            </a: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under the specific </a:t>
            </a:r>
            <a:r>
              <a:rPr lang="en-US" sz="18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UAID</a:t>
            </a: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850" dirty="0"/>
          </a:p>
        </p:txBody>
      </p:sp>
      <p:sp>
        <p:nvSpPr>
          <p:cNvPr id="21" name="Text 19"/>
          <p:cNvSpPr/>
          <p:nvPr/>
        </p:nvSpPr>
        <p:spPr>
          <a:xfrm>
            <a:off x="7434858" y="4983123"/>
            <a:ext cx="23931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Lora Light" pitchFamily="34" charset="0"/>
                <a:ea typeface="Lora Light" pitchFamily="34" charset="-122"/>
                <a:cs typeface="Lora Light" pitchFamily="34" charset="-120"/>
              </a:rPr>
              <a:t>05</a:t>
            </a:r>
            <a:endParaRPr lang="en-US" sz="1850" dirty="0"/>
          </a:p>
        </p:txBody>
      </p:sp>
      <p:sp>
        <p:nvSpPr>
          <p:cNvPr id="22" name="Shape 20"/>
          <p:cNvSpPr/>
          <p:nvPr/>
        </p:nvSpPr>
        <p:spPr>
          <a:xfrm>
            <a:off x="7434858" y="5359479"/>
            <a:ext cx="6357818" cy="30480"/>
          </a:xfrm>
          <a:prstGeom prst="rect">
            <a:avLst/>
          </a:prstGeom>
          <a:solidFill>
            <a:srgbClr val="38512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434858" y="554009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Execution Layer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434858" y="6035635"/>
            <a:ext cx="6357818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Smart Contract linked to that UAID reads the new anchor and triggers payment/fine logic.</a:t>
            </a:r>
            <a:endParaRPr lang="en-US" sz="185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CFA2900-2B50-8272-8CE8-EC1A5DD5B3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2697" y="7746194"/>
            <a:ext cx="2100883" cy="38302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810577"/>
            <a:ext cx="6572369" cy="394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30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 Technologies Used (The Perception Layer)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837724" y="1271707"/>
            <a:ext cx="5450681" cy="295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i="1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Requirement: Real-time verification of noisy data.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837724" y="1818680"/>
            <a:ext cx="7468553" cy="2000726"/>
          </a:xfrm>
          <a:prstGeom prst="roundRect">
            <a:avLst>
              <a:gd name="adj" fmla="val 1256"/>
            </a:avLst>
          </a:prstGeom>
          <a:solidFill>
            <a:srgbClr val="FEF5E7"/>
          </a:solidFill>
          <a:ln w="22860">
            <a:solidFill>
              <a:srgbClr val="D9CDB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860584" y="1841540"/>
            <a:ext cx="670203" cy="1955006"/>
          </a:xfrm>
          <a:prstGeom prst="rect">
            <a:avLst/>
          </a:prstGeom>
          <a:solidFill>
            <a:srgbClr val="F3E7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1070015" y="2661999"/>
            <a:ext cx="251341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1698308" y="2009061"/>
            <a:ext cx="2262902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Quality Filter (DQF)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698308" y="2356009"/>
            <a:ext cx="6417588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Function:</a:t>
            </a:r>
            <a:r>
              <a:rPr lang="en-US" sz="13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NLP/ML Classifier to detect spam, gibberish text, and metadata inconsistencies.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698308" y="2724507"/>
            <a:ext cx="6417588" cy="536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Model Architecture:</a:t>
            </a:r>
            <a:r>
              <a:rPr lang="en-US" sz="13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Random Forest or Lightweight Transformer (e.g., DistilBERT) for text analysis.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698308" y="3361015"/>
            <a:ext cx="6417588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Role:</a:t>
            </a:r>
            <a:r>
              <a:rPr lang="en-US" sz="13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The "Gatekeeper" that rejects invalid reports before they consume GPU resources.</a:t>
            </a:r>
            <a:endParaRPr lang="en-US" sz="130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FD77F59-4794-E592-9FF9-2F2F4F49FF8E}"/>
              </a:ext>
            </a:extLst>
          </p:cNvPr>
          <p:cNvGrpSpPr/>
          <p:nvPr/>
        </p:nvGrpSpPr>
        <p:grpSpPr>
          <a:xfrm>
            <a:off x="837724" y="3986927"/>
            <a:ext cx="7468553" cy="2000726"/>
            <a:chOff x="837724" y="3986927"/>
            <a:chExt cx="7468553" cy="2000726"/>
          </a:xfrm>
        </p:grpSpPr>
        <p:sp>
          <p:nvSpPr>
            <p:cNvPr id="12" name="Shape 9"/>
            <p:cNvSpPr/>
            <p:nvPr/>
          </p:nvSpPr>
          <p:spPr>
            <a:xfrm>
              <a:off x="837724" y="3986927"/>
              <a:ext cx="7468553" cy="2000726"/>
            </a:xfrm>
            <a:prstGeom prst="roundRect">
              <a:avLst>
                <a:gd name="adj" fmla="val 1256"/>
              </a:avLst>
            </a:prstGeom>
            <a:solidFill>
              <a:srgbClr val="FEF5E7"/>
            </a:solidFill>
            <a:ln w="22860">
              <a:solidFill>
                <a:srgbClr val="D9CDBA"/>
              </a:solidFill>
              <a:prstDash val="solid"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3" name="Shape 10"/>
            <p:cNvSpPr/>
            <p:nvPr/>
          </p:nvSpPr>
          <p:spPr>
            <a:xfrm>
              <a:off x="860584" y="4009787"/>
              <a:ext cx="670203" cy="1955006"/>
            </a:xfrm>
            <a:prstGeom prst="rect">
              <a:avLst/>
            </a:prstGeom>
            <a:solidFill>
              <a:srgbClr val="F3E7D4"/>
            </a:solidFill>
            <a:ln/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4" name="Text 11"/>
            <p:cNvSpPr/>
            <p:nvPr/>
          </p:nvSpPr>
          <p:spPr>
            <a:xfrm>
              <a:off x="1070015" y="4830247"/>
              <a:ext cx="251341" cy="31408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950" dirty="0">
                  <a:solidFill>
                    <a:srgbClr val="3A3630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2</a:t>
              </a:r>
              <a:endParaRPr lang="en-US" sz="1950" dirty="0"/>
            </a:p>
          </p:txBody>
        </p:sp>
      </p:grpSp>
      <p:sp>
        <p:nvSpPr>
          <p:cNvPr id="15" name="Text 12"/>
          <p:cNvSpPr/>
          <p:nvPr/>
        </p:nvSpPr>
        <p:spPr>
          <a:xfrm>
            <a:off x="1698308" y="4177308"/>
            <a:ext cx="2262902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Quality Filter (DQF)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1698308" y="4524256"/>
            <a:ext cx="6417588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Function:</a:t>
            </a:r>
            <a:r>
              <a:rPr lang="en-US" sz="13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NLP/ML Classifier to detect spam, gibberish text, and metadata inconsistencies.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698308" y="4892754"/>
            <a:ext cx="6417588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Model Architecture:</a:t>
            </a:r>
            <a:r>
              <a:rPr lang="en-US" sz="13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YOLOv8 (for speed/detection) or ResNet-50 (for classification depth).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698308" y="5261253"/>
            <a:ext cx="6417588" cy="536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Output:</a:t>
            </a:r>
            <a:r>
              <a:rPr lang="en-US" sz="13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Classifies damage type (Pothole, Crack, Waterlogging) and Severity (Low, Medium, Severe).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37724" y="6155174"/>
            <a:ext cx="7468553" cy="1263729"/>
          </a:xfrm>
          <a:prstGeom prst="roundRect">
            <a:avLst>
              <a:gd name="adj" fmla="val 1989"/>
            </a:avLst>
          </a:prstGeom>
          <a:solidFill>
            <a:srgbClr val="FEF5E7"/>
          </a:solidFill>
          <a:ln w="22860">
            <a:solidFill>
              <a:srgbClr val="D9CDB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860584" y="6178034"/>
            <a:ext cx="670203" cy="1218009"/>
          </a:xfrm>
          <a:prstGeom prst="rect">
            <a:avLst/>
          </a:prstGeom>
          <a:solidFill>
            <a:srgbClr val="F3E7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1070015" y="6629995"/>
            <a:ext cx="251341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1950" dirty="0"/>
          </a:p>
        </p:txBody>
      </p:sp>
      <p:sp>
        <p:nvSpPr>
          <p:cNvPr id="22" name="Text 19"/>
          <p:cNvSpPr/>
          <p:nvPr/>
        </p:nvSpPr>
        <p:spPr>
          <a:xfrm>
            <a:off x="1698308" y="6345555"/>
            <a:ext cx="3433405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Large Vision Model (LVM) Foundation</a:t>
            </a:r>
            <a:endParaRPr lang="en-US" sz="1550" dirty="0"/>
          </a:p>
        </p:txBody>
      </p:sp>
      <p:sp>
        <p:nvSpPr>
          <p:cNvPr id="23" name="Text 20"/>
          <p:cNvSpPr/>
          <p:nvPr/>
        </p:nvSpPr>
        <p:spPr>
          <a:xfrm>
            <a:off x="1698308" y="6692503"/>
            <a:ext cx="6417588" cy="536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Long-Term Asset:</a:t>
            </a:r>
            <a:r>
              <a:rPr lang="en-US" sz="13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The pilot begins aggregating data to fine-tune a foundational LVM (e.g., based on LLaVA or similar multimodal models) for future autonomous driving contexts.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889754"/>
            <a:ext cx="7370207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Training Datasets &amp; Sources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1689497"/>
            <a:ext cx="8671560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transition from "Noisy Input" to "Immutable Truth".</a:t>
            </a:r>
            <a:endParaRPr lang="en-US" sz="26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2470785"/>
            <a:ext cx="4318278" cy="9575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7039" y="3667601"/>
            <a:ext cx="3824049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Dataset A: Raw Citizen Ingest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77039" y="4163139"/>
            <a:ext cx="383964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Source:</a:t>
            </a: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MVP PWA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1077039" y="4689753"/>
            <a:ext cx="383964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Content:</a:t>
            </a: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Unfiltered photos/videos from Borivali West pilot users.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1077039" y="5599390"/>
            <a:ext cx="383964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Use:</a:t>
            </a: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Initial training and stress-testing the DQF model.</a:t>
            </a:r>
            <a:endParaRPr lang="en-US" sz="18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6002" y="2470785"/>
            <a:ext cx="4318278" cy="95750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5317" y="3667601"/>
            <a:ext cx="3839647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Dataset B: The Immutable Training Pool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5395317" y="4515088"/>
            <a:ext cx="383964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Source:</a:t>
            </a: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Blockchain</a:t>
            </a:r>
            <a:endParaRPr lang="en-US" sz="1850" dirty="0"/>
          </a:p>
        </p:txBody>
      </p:sp>
      <p:sp>
        <p:nvSpPr>
          <p:cNvPr id="12" name="Text 8"/>
          <p:cNvSpPr/>
          <p:nvPr/>
        </p:nvSpPr>
        <p:spPr>
          <a:xfrm>
            <a:off x="5395317" y="5041702"/>
            <a:ext cx="3839647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Content:</a:t>
            </a: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The "Gold Standard" reports (anchored to UAIDs) that have passed AI + Human Audit.</a:t>
            </a:r>
            <a:endParaRPr lang="en-US" sz="1850" dirty="0"/>
          </a:p>
        </p:txBody>
      </p:sp>
      <p:sp>
        <p:nvSpPr>
          <p:cNvPr id="13" name="Text 9"/>
          <p:cNvSpPr/>
          <p:nvPr/>
        </p:nvSpPr>
        <p:spPr>
          <a:xfrm>
            <a:off x="5395317" y="6334363"/>
            <a:ext cx="383964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Use:</a:t>
            </a: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Retraining the PDC model to prevent drift and ensure high fidelity.</a:t>
            </a:r>
            <a:endParaRPr lang="en-US" sz="18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4279" y="2470785"/>
            <a:ext cx="4318278" cy="95750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713595" y="3667601"/>
            <a:ext cx="3235762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Dataset C: Base GIS Data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9713595" y="4163139"/>
            <a:ext cx="383964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Source:</a:t>
            </a: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OpenStreetMap/Google</a:t>
            </a:r>
            <a:endParaRPr lang="en-US" sz="1850" dirty="0"/>
          </a:p>
        </p:txBody>
      </p:sp>
      <p:sp>
        <p:nvSpPr>
          <p:cNvPr id="17" name="Text 12"/>
          <p:cNvSpPr/>
          <p:nvPr/>
        </p:nvSpPr>
        <p:spPr>
          <a:xfrm>
            <a:off x="9713595" y="4689753"/>
            <a:ext cx="383964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Content:</a:t>
            </a: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Satellite &amp; Street Maps used to define the initial UAID grid (Slide 3).</a:t>
            </a:r>
            <a:endParaRPr lang="en-US" sz="1850" dirty="0"/>
          </a:p>
        </p:txBody>
      </p:sp>
      <p:sp>
        <p:nvSpPr>
          <p:cNvPr id="18" name="Text 13"/>
          <p:cNvSpPr/>
          <p:nvPr/>
        </p:nvSpPr>
        <p:spPr>
          <a:xfrm>
            <a:off x="9713595" y="5599390"/>
            <a:ext cx="383964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Use:</a:t>
            </a: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Contextual validation of road segments.</a:t>
            </a:r>
            <a:endParaRPr lang="en-US" sz="18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A02332C-77A7-B26C-CB9C-80B3314724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32697" y="7746194"/>
            <a:ext cx="2100883" cy="38302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784979"/>
            <a:ext cx="6629519" cy="528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Resources Utilized - Open Source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837724" y="1384816"/>
            <a:ext cx="6240185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Leveraging community standards for cost-efficiency.</a:t>
            </a:r>
            <a:endParaRPr lang="en-US" sz="1950" dirty="0"/>
          </a:p>
        </p:txBody>
      </p:sp>
      <p:sp>
        <p:nvSpPr>
          <p:cNvPr id="5" name="Shape 2"/>
          <p:cNvSpPr/>
          <p:nvPr/>
        </p:nvSpPr>
        <p:spPr>
          <a:xfrm>
            <a:off x="837724" y="1970842"/>
            <a:ext cx="7468553" cy="1063347"/>
          </a:xfrm>
          <a:prstGeom prst="roundRect">
            <a:avLst>
              <a:gd name="adj" fmla="val 2533"/>
            </a:avLst>
          </a:prstGeom>
          <a:solidFill>
            <a:srgbClr val="FEF5E7"/>
          </a:solidFill>
          <a:ln w="22860">
            <a:solidFill>
              <a:srgbClr val="D9CDB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1040011" y="2173129"/>
            <a:ext cx="2112169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Frontend/App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040011" y="2544723"/>
            <a:ext cx="7063978" cy="28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React, TypeScript, Vite, Tailwind CSS, Lucide React (Icons).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37724" y="3213616"/>
            <a:ext cx="7468553" cy="1063347"/>
          </a:xfrm>
          <a:prstGeom prst="roundRect">
            <a:avLst>
              <a:gd name="adj" fmla="val 2533"/>
            </a:avLst>
          </a:prstGeom>
          <a:solidFill>
            <a:srgbClr val="FEF5E7"/>
          </a:solidFill>
          <a:ln w="22860">
            <a:solidFill>
              <a:srgbClr val="D9CDB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1040011" y="3415903"/>
            <a:ext cx="2112169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Backend/Database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040011" y="3787497"/>
            <a:ext cx="7063978" cy="28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Supabase (built on open-source PostgreSQL), PostGIS (for geospatial queries).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37724" y="4456390"/>
            <a:ext cx="7468553" cy="1458158"/>
          </a:xfrm>
          <a:prstGeom prst="roundRect">
            <a:avLst>
              <a:gd name="adj" fmla="val 1847"/>
            </a:avLst>
          </a:prstGeom>
          <a:solidFill>
            <a:srgbClr val="FEF5E7"/>
          </a:solidFill>
          <a:ln w="22860">
            <a:solidFill>
              <a:srgbClr val="D9CDB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1040011" y="4658678"/>
            <a:ext cx="2112169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AI/ML Frameworks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1040011" y="5030272"/>
            <a:ext cx="7063978" cy="28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TensorFlow / PyTorch:</a:t>
            </a:r>
            <a:r>
              <a:rPr lang="en-US" sz="14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For model development.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40011" y="5425083"/>
            <a:ext cx="7063978" cy="28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OpenCV:</a:t>
            </a:r>
            <a:r>
              <a:rPr lang="en-US" sz="14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For pre-processing image data.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37724" y="6093976"/>
            <a:ext cx="7468553" cy="1350526"/>
          </a:xfrm>
          <a:prstGeom prst="roundRect">
            <a:avLst>
              <a:gd name="adj" fmla="val 1994"/>
            </a:avLst>
          </a:prstGeom>
          <a:solidFill>
            <a:srgbClr val="FEF5E7"/>
          </a:solidFill>
          <a:ln w="22860">
            <a:solidFill>
              <a:srgbClr val="D9CDB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1040011" y="6296263"/>
            <a:ext cx="2112169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Blockchain Protocol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1040011" y="6667857"/>
            <a:ext cx="7063978" cy="574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Polygon CDK or Hyperledger Besu: For setting up the private/permissioned Proof-of-Authority network.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695682"/>
            <a:ext cx="8514636" cy="633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Resources Utilized - Proprietary (IP)</a:t>
            </a:r>
            <a:endParaRPr lang="en-US" sz="3950" dirty="0"/>
          </a:p>
        </p:txBody>
      </p:sp>
      <p:sp>
        <p:nvSpPr>
          <p:cNvPr id="3" name="Text 1"/>
          <p:cNvSpPr/>
          <p:nvPr/>
        </p:nvSpPr>
        <p:spPr>
          <a:xfrm>
            <a:off x="837724" y="1415415"/>
            <a:ext cx="6408301" cy="3801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core competitive assets of SadakChainAI.</a:t>
            </a:r>
            <a:endParaRPr lang="en-US" sz="2350" dirty="0"/>
          </a:p>
        </p:txBody>
      </p:sp>
      <p:sp>
        <p:nvSpPr>
          <p:cNvPr id="4" name="Shape 2"/>
          <p:cNvSpPr/>
          <p:nvPr/>
        </p:nvSpPr>
        <p:spPr>
          <a:xfrm>
            <a:off x="837724" y="2118717"/>
            <a:ext cx="4174688" cy="3116699"/>
          </a:xfrm>
          <a:prstGeom prst="roundRect">
            <a:avLst>
              <a:gd name="adj" fmla="val 1037"/>
            </a:avLst>
          </a:prstGeom>
          <a:solidFill>
            <a:srgbClr val="F3E7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053108" y="2334101"/>
            <a:ext cx="646271" cy="646271"/>
          </a:xfrm>
          <a:prstGeom prst="roundRect">
            <a:avLst>
              <a:gd name="adj" fmla="val 14147448"/>
            </a:avLst>
          </a:prstGeom>
          <a:solidFill>
            <a:srgbClr val="38512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0868" y="2511742"/>
            <a:ext cx="290751" cy="2907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3108" y="3195757"/>
            <a:ext cx="3047524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Geospatial Node Grid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1053108" y="3641765"/>
            <a:ext cx="3743920" cy="1378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proprietary heuristic logic that synthesizes DQF scores, PDC visual confidence, and user reputation into a single, actionable 0-100 score.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5227796" y="2118717"/>
            <a:ext cx="4174688" cy="3116699"/>
          </a:xfrm>
          <a:prstGeom prst="roundRect">
            <a:avLst>
              <a:gd name="adj" fmla="val 1037"/>
            </a:avLst>
          </a:prstGeom>
          <a:solidFill>
            <a:srgbClr val="F3E7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5443180" y="2334101"/>
            <a:ext cx="646271" cy="646271"/>
          </a:xfrm>
          <a:prstGeom prst="roundRect">
            <a:avLst>
              <a:gd name="adj" fmla="val 14147448"/>
            </a:avLst>
          </a:prstGeom>
          <a:solidFill>
            <a:srgbClr val="38512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20941" y="2511742"/>
            <a:ext cx="290751" cy="29075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3180" y="3195757"/>
            <a:ext cx="2741414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Trained Model Weights</a:t>
            </a:r>
            <a:endParaRPr lang="en-US" sz="1950" dirty="0"/>
          </a:p>
        </p:txBody>
      </p:sp>
      <p:sp>
        <p:nvSpPr>
          <p:cNvPr id="13" name="Text 9"/>
          <p:cNvSpPr/>
          <p:nvPr/>
        </p:nvSpPr>
        <p:spPr>
          <a:xfrm>
            <a:off x="5443180" y="3641765"/>
            <a:ext cx="3743920" cy="1033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specific fine-tuning of the YOLO/ResNet models on Indian road conditions (the "Chaos" Moat).</a:t>
            </a:r>
            <a:endParaRPr lang="en-US" sz="1650" dirty="0"/>
          </a:p>
        </p:txBody>
      </p:sp>
      <p:sp>
        <p:nvSpPr>
          <p:cNvPr id="14" name="Shape 10"/>
          <p:cNvSpPr/>
          <p:nvPr/>
        </p:nvSpPr>
        <p:spPr>
          <a:xfrm>
            <a:off x="9617869" y="2118717"/>
            <a:ext cx="4174688" cy="3116699"/>
          </a:xfrm>
          <a:prstGeom prst="roundRect">
            <a:avLst>
              <a:gd name="adj" fmla="val 1037"/>
            </a:avLst>
          </a:prstGeom>
          <a:solidFill>
            <a:srgbClr val="F3E7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9833253" y="2334101"/>
            <a:ext cx="646271" cy="646271"/>
          </a:xfrm>
          <a:prstGeom prst="roundRect">
            <a:avLst>
              <a:gd name="adj" fmla="val 14147448"/>
            </a:avLst>
          </a:prstGeom>
          <a:solidFill>
            <a:srgbClr val="38512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11013" y="2511742"/>
            <a:ext cx="290751" cy="29075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33253" y="3195757"/>
            <a:ext cx="3424238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Immutable Training Pool</a:t>
            </a:r>
            <a:endParaRPr lang="en-US" sz="1950" dirty="0"/>
          </a:p>
        </p:txBody>
      </p:sp>
      <p:sp>
        <p:nvSpPr>
          <p:cNvPr id="18" name="Text 13"/>
          <p:cNvSpPr/>
          <p:nvPr/>
        </p:nvSpPr>
        <p:spPr>
          <a:xfrm>
            <a:off x="9833253" y="3641765"/>
            <a:ext cx="3743920" cy="1033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aggregated, cleaned, and verified dataset itself, which becomes a sovereign national asset.</a:t>
            </a:r>
            <a:endParaRPr lang="en-US" sz="1650" dirty="0"/>
          </a:p>
        </p:txBody>
      </p:sp>
      <p:sp>
        <p:nvSpPr>
          <p:cNvPr id="19" name="Shape 14"/>
          <p:cNvSpPr/>
          <p:nvPr/>
        </p:nvSpPr>
        <p:spPr>
          <a:xfrm>
            <a:off x="837724" y="5450800"/>
            <a:ext cx="12954833" cy="2082998"/>
          </a:xfrm>
          <a:prstGeom prst="roundRect">
            <a:avLst>
              <a:gd name="adj" fmla="val 1551"/>
            </a:avLst>
          </a:prstGeom>
          <a:solidFill>
            <a:srgbClr val="F3E7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1053108" y="5666184"/>
            <a:ext cx="646271" cy="646271"/>
          </a:xfrm>
          <a:prstGeom prst="roundRect">
            <a:avLst>
              <a:gd name="adj" fmla="val 14147448"/>
            </a:avLst>
          </a:prstGeom>
          <a:solidFill>
            <a:srgbClr val="38512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30868" y="5843826"/>
            <a:ext cx="290751" cy="29075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53108" y="6527840"/>
            <a:ext cx="4472940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Road Trust Score (RTS) Algorithm</a:t>
            </a:r>
            <a:endParaRPr lang="en-US" sz="1950" dirty="0"/>
          </a:p>
        </p:txBody>
      </p:sp>
      <p:sp>
        <p:nvSpPr>
          <p:cNvPr id="23" name="Text 17"/>
          <p:cNvSpPr/>
          <p:nvPr/>
        </p:nvSpPr>
        <p:spPr>
          <a:xfrm>
            <a:off x="1053108" y="6973848"/>
            <a:ext cx="12524065" cy="344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proprietary heuristic logic that synthesizes DQF scores, PDC visual confidence, and user reputation into a single, actionable 0-100 score.</a:t>
            </a:r>
            <a:endParaRPr lang="en-US" sz="165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7D6E75E-628A-B49F-4353-2E02741E86C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432697" y="7746194"/>
            <a:ext cx="2100883" cy="38302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0818" y="654844"/>
            <a:ext cx="7482364" cy="132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Resources Utilized - Licensed/Commercial</a:t>
            </a:r>
            <a:endParaRPr lang="en-US" sz="4150" dirty="0"/>
          </a:p>
        </p:txBody>
      </p:sp>
      <p:sp>
        <p:nvSpPr>
          <p:cNvPr id="4" name="Text 1"/>
          <p:cNvSpPr/>
          <p:nvPr/>
        </p:nvSpPr>
        <p:spPr>
          <a:xfrm>
            <a:off x="830818" y="2071568"/>
            <a:ext cx="7210782" cy="397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Infrastructure required for the Pilot deployment.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830818" y="3033236"/>
            <a:ext cx="2100620" cy="663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Cloud Compute (OpEx)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830818" y="3922157"/>
            <a:ext cx="2100620" cy="1803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AWS/Azure/GCP:</a:t>
            </a:r>
            <a:r>
              <a:rPr lang="en-US" sz="17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Renting GPU instances (e.g., NVIDIA T4 or A10) for AI inference.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830818" y="5928836"/>
            <a:ext cx="2100620" cy="144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Validator Nodes:</a:t>
            </a:r>
            <a:r>
              <a:rPr lang="en-US" sz="17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Hosting the 5-node Proof-of-Authority blockchain network.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3489127" y="3033236"/>
            <a:ext cx="2100620" cy="331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Mapping APIs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3489127" y="3590449"/>
            <a:ext cx="2100620" cy="2525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Google Maps Platform / Mapbox:</a:t>
            </a:r>
            <a:r>
              <a:rPr lang="en-US" sz="17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Licensed API access for precise geocoding and reverse-geocoding during the reporting process.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147435" y="3033236"/>
            <a:ext cx="2180868" cy="663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Notification Services</a:t>
            </a:r>
            <a:endParaRPr lang="en-US" sz="2050" dirty="0"/>
          </a:p>
        </p:txBody>
      </p:sp>
      <p:sp>
        <p:nvSpPr>
          <p:cNvPr id="11" name="Text 8"/>
          <p:cNvSpPr/>
          <p:nvPr/>
        </p:nvSpPr>
        <p:spPr>
          <a:xfrm>
            <a:off x="6147435" y="3922157"/>
            <a:ext cx="2180868" cy="144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SendGrid:</a:t>
            </a:r>
            <a:r>
              <a:rPr lang="en-US" sz="17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For transactional email/OTP delivery (Email Confirmation).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722471"/>
            <a:ext cx="8639770" cy="633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Pilot Deployment Roadmap (Borivali)</a:t>
            </a:r>
            <a:endParaRPr lang="en-US" sz="3950" dirty="0"/>
          </a:p>
        </p:txBody>
      </p:sp>
      <p:sp>
        <p:nvSpPr>
          <p:cNvPr id="3" name="Text 1"/>
          <p:cNvSpPr/>
          <p:nvPr/>
        </p:nvSpPr>
        <p:spPr>
          <a:xfrm>
            <a:off x="837724" y="1442204"/>
            <a:ext cx="4981932" cy="3801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Summary of Immediate Next Steps.</a:t>
            </a:r>
            <a:endParaRPr lang="en-US" sz="2350" dirty="0"/>
          </a:p>
        </p:txBody>
      </p:sp>
      <p:sp>
        <p:nvSpPr>
          <p:cNvPr id="4" name="Shape 2"/>
          <p:cNvSpPr/>
          <p:nvPr/>
        </p:nvSpPr>
        <p:spPr>
          <a:xfrm>
            <a:off x="7299960" y="2145506"/>
            <a:ext cx="30480" cy="4204097"/>
          </a:xfrm>
          <a:prstGeom prst="roundRect">
            <a:avLst>
              <a:gd name="adj" fmla="val 106025"/>
            </a:avLst>
          </a:prstGeom>
          <a:solidFill>
            <a:srgbClr val="D9CDB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457057" y="2372558"/>
            <a:ext cx="646271" cy="30480"/>
          </a:xfrm>
          <a:prstGeom prst="roundRect">
            <a:avLst>
              <a:gd name="adj" fmla="val 106025"/>
            </a:avLst>
          </a:prstGeom>
          <a:solidFill>
            <a:srgbClr val="D9CDB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072848" y="2145506"/>
            <a:ext cx="484703" cy="484703"/>
          </a:xfrm>
          <a:prstGeom prst="roundRect">
            <a:avLst>
              <a:gd name="adj" fmla="val 6667"/>
            </a:avLst>
          </a:prstGeom>
          <a:solidFill>
            <a:srgbClr val="F3E7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163098" y="2197715"/>
            <a:ext cx="304086" cy="3801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2350" dirty="0"/>
          </a:p>
        </p:txBody>
      </p:sp>
      <p:sp>
        <p:nvSpPr>
          <p:cNvPr id="8" name="Text 6"/>
          <p:cNvSpPr/>
          <p:nvPr/>
        </p:nvSpPr>
        <p:spPr>
          <a:xfrm>
            <a:off x="3703439" y="2219563"/>
            <a:ext cx="2534603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50"/>
              </a:lnSpc>
              <a:buNone/>
            </a:pPr>
            <a:r>
              <a:rPr lang="en-US" sz="19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Phase 1 (Weeks 1-4)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837724" y="2665571"/>
            <a:ext cx="5400318" cy="689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en-US" sz="16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Deploy Blockchain Nodes (AWS). Smart Contract deployment for "Staking" simulation.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7527072" y="3664982"/>
            <a:ext cx="646271" cy="30480"/>
          </a:xfrm>
          <a:prstGeom prst="roundRect">
            <a:avLst>
              <a:gd name="adj" fmla="val 106025"/>
            </a:avLst>
          </a:prstGeom>
          <a:solidFill>
            <a:srgbClr val="D9CDB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072848" y="3437930"/>
            <a:ext cx="484703" cy="484703"/>
          </a:xfrm>
          <a:prstGeom prst="roundRect">
            <a:avLst>
              <a:gd name="adj" fmla="val 6667"/>
            </a:avLst>
          </a:prstGeom>
          <a:solidFill>
            <a:srgbClr val="F3E7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163098" y="3490139"/>
            <a:ext cx="304086" cy="3801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2350" dirty="0"/>
          </a:p>
        </p:txBody>
      </p:sp>
      <p:sp>
        <p:nvSpPr>
          <p:cNvPr id="13" name="Text 11"/>
          <p:cNvSpPr/>
          <p:nvPr/>
        </p:nvSpPr>
        <p:spPr>
          <a:xfrm>
            <a:off x="8392358" y="3511987"/>
            <a:ext cx="2534603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Phase 2 (Weeks 5-8)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8392358" y="3957995"/>
            <a:ext cx="5400318" cy="689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Connect MVP Frontend to AI Inference API (Python/Flask wrapper around models).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6457057" y="4779050"/>
            <a:ext cx="646271" cy="30480"/>
          </a:xfrm>
          <a:prstGeom prst="roundRect">
            <a:avLst>
              <a:gd name="adj" fmla="val 106025"/>
            </a:avLst>
          </a:prstGeom>
          <a:solidFill>
            <a:srgbClr val="D9CDB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072848" y="4551998"/>
            <a:ext cx="484703" cy="484703"/>
          </a:xfrm>
          <a:prstGeom prst="roundRect">
            <a:avLst>
              <a:gd name="adj" fmla="val 6667"/>
            </a:avLst>
          </a:prstGeom>
          <a:solidFill>
            <a:srgbClr val="F3E7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163098" y="4604206"/>
            <a:ext cx="304086" cy="3801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2350" dirty="0"/>
          </a:p>
        </p:txBody>
      </p:sp>
      <p:sp>
        <p:nvSpPr>
          <p:cNvPr id="18" name="Text 16"/>
          <p:cNvSpPr/>
          <p:nvPr/>
        </p:nvSpPr>
        <p:spPr>
          <a:xfrm>
            <a:off x="3703439" y="4626054"/>
            <a:ext cx="2534603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50"/>
              </a:lnSpc>
              <a:buNone/>
            </a:pPr>
            <a:r>
              <a:rPr lang="en-US" sz="19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Phase 3 (Weeks 9-12)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837724" y="5072063"/>
            <a:ext cx="5400318" cy="1033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en-US" sz="16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"Shadow Mode" Launch. Citizens report via PWA; AI scores in background; successful reports are anchored to the testnet ledger.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837724" y="6591895"/>
            <a:ext cx="12954952" cy="915233"/>
          </a:xfrm>
          <a:prstGeom prst="roundRect">
            <a:avLst>
              <a:gd name="adj" fmla="val 3531"/>
            </a:avLst>
          </a:prstGeom>
          <a:solidFill>
            <a:srgbClr val="D4E3C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108" y="6908840"/>
            <a:ext cx="269200" cy="21538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537692" y="6861096"/>
            <a:ext cx="12039600" cy="344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Goal:</a:t>
            </a:r>
            <a:r>
              <a:rPr lang="en-US" sz="16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Validate the Time-to-Resolution metric and establish the first 1,000 verified data points for the LVM.</a:t>
            </a:r>
            <a:endParaRPr lang="en-US" sz="165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9B6366E-EE64-10B4-88E7-0B04D64D97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32697" y="7746194"/>
            <a:ext cx="2100883" cy="38302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1157</Words>
  <Application>Microsoft Office PowerPoint</Application>
  <PresentationFormat>Custom</PresentationFormat>
  <Paragraphs>126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Source Sans 3</vt:lpstr>
      <vt:lpstr>Arial</vt:lpstr>
      <vt:lpstr>Lora</vt:lpstr>
      <vt:lpstr>Lora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Srikrishna .</cp:lastModifiedBy>
  <cp:revision>2</cp:revision>
  <dcterms:created xsi:type="dcterms:W3CDTF">2025-11-30T09:05:03Z</dcterms:created>
  <dcterms:modified xsi:type="dcterms:W3CDTF">2025-11-30T09:11:56Z</dcterms:modified>
</cp:coreProperties>
</file>